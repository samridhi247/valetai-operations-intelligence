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Glacial Indifference" panose="020B0604020202020204" charset="0"/>
      <p:regular r:id="rId14"/>
    </p:embeddedFont>
    <p:embeddedFont>
      <p:font typeface="Glacial Indifference Bold" panose="020B0604020202020204" charset="0"/>
      <p:regular r:id="rId15"/>
    </p:embeddedFont>
    <p:embeddedFont>
      <p:font typeface="Playfair Display" panose="00000500000000000000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2" autoAdjust="0"/>
  </p:normalViewPr>
  <p:slideViewPr>
    <p:cSldViewPr>
      <p:cViewPr>
        <p:scale>
          <a:sx n="50" d="100"/>
          <a:sy n="50" d="100"/>
        </p:scale>
        <p:origin x="324" y="-8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66" b="-66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5270825" y="4214489"/>
            <a:ext cx="7746349" cy="1071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9000">
                <a:solidFill>
                  <a:srgbClr val="54545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ValetAI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83173" y="5618998"/>
            <a:ext cx="6718397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End-to-End Agentic AI Operations Intelligence Platform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727118" y="4924739"/>
            <a:ext cx="1532182" cy="36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1900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NEXT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924739"/>
            <a:ext cx="1532182" cy="36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60"/>
              </a:lnSpc>
            </a:pPr>
            <a:r>
              <a:rPr lang="en-US" sz="1900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PREVIOUS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83173" y="6344168"/>
            <a:ext cx="6718397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Databricks • LangGraph • RAG • LangFuse • Azure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65957" y="7962900"/>
            <a:ext cx="3156083" cy="7796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48"/>
              </a:lnSpc>
            </a:pPr>
            <a:r>
              <a:rPr lang="en-US" sz="2248" dirty="0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Samridhi Sinha</a:t>
            </a:r>
          </a:p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en-US" sz="2248" dirty="0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ASE Intern Accenture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352712" y="0"/>
            <a:ext cx="8935288" cy="10795756"/>
            <a:chOff x="0" y="0"/>
            <a:chExt cx="11913718" cy="14394341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11913743" cy="14394393"/>
            </a:xfrm>
            <a:custGeom>
              <a:avLst/>
              <a:gdLst/>
              <a:ahLst/>
              <a:cxnLst/>
              <a:rect l="l" t="t" r="r" b="b"/>
              <a:pathLst>
                <a:path w="11913743" h="14394393">
                  <a:moveTo>
                    <a:pt x="11913743" y="0"/>
                  </a:moveTo>
                  <a:lnTo>
                    <a:pt x="0" y="0"/>
                  </a:lnTo>
                  <a:lnTo>
                    <a:pt x="0" y="14394393"/>
                  </a:lnTo>
                  <a:lnTo>
                    <a:pt x="11913743" y="14394393"/>
                  </a:lnTo>
                  <a:lnTo>
                    <a:pt x="11913743" y="0"/>
                  </a:lnTo>
                  <a:close/>
                </a:path>
              </a:pathLst>
            </a:custGeom>
            <a:blipFill>
              <a:blip r:embed="rId2"/>
              <a:stretch>
                <a:fillRect l="-19040" r="-19039" b="-2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1143000"/>
            <a:ext cx="6019087" cy="1460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4"/>
              </a:lnSpc>
            </a:pPr>
            <a:r>
              <a:rPr lang="en-US" sz="6064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Problem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914464"/>
            <a:ext cx="6019087" cy="5185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0"/>
              </a:lnSpc>
            </a:pPr>
            <a:r>
              <a:rPr lang="en-US" sz="2114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Business Challenge:</a:t>
            </a:r>
          </a:p>
          <a:p>
            <a:pPr algn="l">
              <a:lnSpc>
                <a:spcPts val="2960"/>
              </a:lnSpc>
            </a:pPr>
            <a:r>
              <a:rPr lang="en-US" sz="2114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Structured metrics: missed pickups, completion times, route performance</a:t>
            </a:r>
          </a:p>
          <a:p>
            <a:pPr algn="l">
              <a:lnSpc>
                <a:spcPts val="2960"/>
              </a:lnSpc>
            </a:pPr>
            <a:r>
              <a:rPr lang="en-US" sz="2114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Unstructured notes: resident complaints, incidents, root causes</a:t>
            </a:r>
          </a:p>
          <a:p>
            <a:pPr algn="l">
              <a:lnSpc>
                <a:spcPts val="2958"/>
              </a:lnSpc>
            </a:pPr>
            <a:r>
              <a:rPr lang="en-US" sz="2114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Traditional dashboards answer "what happened" — not "why it happened"</a:t>
            </a:r>
          </a:p>
          <a:p>
            <a:pPr algn="l">
              <a:lnSpc>
                <a:spcPts val="2960"/>
              </a:lnSpc>
            </a:pPr>
            <a:endParaRPr lang="en-US" sz="2114">
              <a:solidFill>
                <a:srgbClr val="EFE9E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2958"/>
              </a:lnSpc>
            </a:pPr>
            <a:r>
              <a:rPr lang="en-US" sz="2114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Objective: </a:t>
            </a:r>
          </a:p>
          <a:p>
            <a:pPr algn="l">
              <a:lnSpc>
                <a:spcPts val="2960"/>
              </a:lnSpc>
            </a:pPr>
            <a:r>
              <a:rPr lang="en-US" sz="2114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Build an intelligent assistant capable of:</a:t>
            </a:r>
          </a:p>
          <a:p>
            <a:pPr marL="456612" lvl="1" indent="-228306" algn="l">
              <a:lnSpc>
                <a:spcPts val="2960"/>
              </a:lnSpc>
              <a:buFont typeface="Arial"/>
              <a:buChar char="•"/>
            </a:pPr>
            <a:r>
              <a:rPr lang="en-US" sz="2114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Answering natural language questions</a:t>
            </a:r>
          </a:p>
          <a:p>
            <a:pPr marL="456612" lvl="1" indent="-228306" algn="l">
              <a:lnSpc>
                <a:spcPts val="2960"/>
              </a:lnSpc>
              <a:buFont typeface="Arial"/>
              <a:buChar char="•"/>
            </a:pPr>
            <a:r>
              <a:rPr lang="en-US" sz="2114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Retrieving exact operational metrics</a:t>
            </a:r>
          </a:p>
          <a:p>
            <a:pPr marL="456612" lvl="1" indent="-228306" algn="l">
              <a:lnSpc>
                <a:spcPts val="2960"/>
              </a:lnSpc>
              <a:buFont typeface="Arial"/>
              <a:buChar char="•"/>
            </a:pPr>
            <a:r>
              <a:rPr lang="en-US" sz="2114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Identifying historical patterns</a:t>
            </a:r>
          </a:p>
          <a:p>
            <a:pPr marL="456612" lvl="1" indent="-228306" algn="l">
              <a:lnSpc>
                <a:spcPts val="2960"/>
              </a:lnSpc>
              <a:buFont typeface="Arial"/>
              <a:buChar char="•"/>
            </a:pPr>
            <a:r>
              <a:rPr lang="en-US" sz="2114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Generating actionable recommendations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075560"/>
            <a:ext cx="6019087" cy="384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0"/>
              </a:lnSpc>
            </a:pPr>
            <a:r>
              <a:rPr lang="en-US" sz="2114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Operations today are flying blind on the "why."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8877" y="2998383"/>
            <a:ext cx="12491587" cy="5715817"/>
          </a:xfrm>
          <a:custGeom>
            <a:avLst/>
            <a:gdLst/>
            <a:ahLst/>
            <a:cxnLst/>
            <a:rect l="l" t="t" r="r" b="b"/>
            <a:pathLst>
              <a:path w="12491587" h="5715817">
                <a:moveTo>
                  <a:pt x="0" y="0"/>
                </a:moveTo>
                <a:lnTo>
                  <a:pt x="12491587" y="0"/>
                </a:lnTo>
                <a:lnTo>
                  <a:pt x="12491587" y="5715817"/>
                </a:lnTo>
                <a:lnTo>
                  <a:pt x="0" y="57158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3502662" y="3053808"/>
            <a:ext cx="3756638" cy="5557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1"/>
              </a:lnSpc>
            </a:pPr>
            <a:r>
              <a:rPr lang="en-US" sz="2458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ValetAI combines structured analytics and Retrieval-Augmented Generation (RAG) within a LangGraph multi-agent workflow.</a:t>
            </a:r>
          </a:p>
          <a:p>
            <a:pPr marL="530712" lvl="1" indent="-265356" algn="l">
              <a:lnSpc>
                <a:spcPts val="3441"/>
              </a:lnSpc>
              <a:buFont typeface="Arial"/>
              <a:buChar char="•"/>
            </a:pPr>
            <a:r>
              <a:rPr lang="en-US" sz="2458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Natural language interface</a:t>
            </a:r>
          </a:p>
          <a:p>
            <a:pPr marL="530712" lvl="1" indent="-265356" algn="l">
              <a:lnSpc>
                <a:spcPts val="3441"/>
              </a:lnSpc>
              <a:buFont typeface="Arial"/>
              <a:buChar char="•"/>
            </a:pPr>
            <a:r>
              <a:rPr lang="en-US" sz="2458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Intelligent query routing</a:t>
            </a:r>
          </a:p>
          <a:p>
            <a:pPr marL="530712" lvl="1" indent="-265356" algn="l">
              <a:lnSpc>
                <a:spcPts val="3441"/>
              </a:lnSpc>
              <a:buFont typeface="Arial"/>
              <a:buChar char="•"/>
            </a:pPr>
            <a:r>
              <a:rPr lang="en-US" sz="2458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SQL Analytics Agent</a:t>
            </a:r>
          </a:p>
          <a:p>
            <a:pPr marL="530712" lvl="1" indent="-265356" algn="l">
              <a:lnSpc>
                <a:spcPts val="3441"/>
              </a:lnSpc>
              <a:buFont typeface="Arial"/>
              <a:buChar char="•"/>
            </a:pPr>
            <a:r>
              <a:rPr lang="en-US" sz="2458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RAG Resolution Agent</a:t>
            </a:r>
          </a:p>
          <a:p>
            <a:pPr marL="530712" lvl="1" indent="-265356" algn="l">
              <a:lnSpc>
                <a:spcPts val="3441"/>
              </a:lnSpc>
              <a:buFont typeface="Arial"/>
              <a:buChar char="•"/>
            </a:pPr>
            <a:r>
              <a:rPr lang="en-US" sz="2458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Hybrid reasoning</a:t>
            </a:r>
          </a:p>
          <a:p>
            <a:pPr marL="530712" lvl="1" indent="-265356" algn="l">
              <a:lnSpc>
                <a:spcPts val="3441"/>
              </a:lnSpc>
              <a:buFont typeface="Arial"/>
              <a:buChar char="•"/>
            </a:pPr>
            <a:r>
              <a:rPr lang="en-US" sz="2458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Executive summaries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25000" y="1218394"/>
            <a:ext cx="6779171" cy="914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One platform for metrics, insights and recommendations.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98876" y="1114425"/>
            <a:ext cx="7785478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51"/>
              </a:lnSpc>
            </a:pPr>
            <a:r>
              <a:rPr lang="en-US" sz="4351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Proposed Solution: </a:t>
            </a:r>
            <a:r>
              <a:rPr lang="en-US" sz="4351" dirty="0" err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ValetAI</a:t>
            </a:r>
            <a:r>
              <a:rPr lang="en-US" sz="4351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Operations Intelligence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300" y="-114300"/>
            <a:ext cx="9267825" cy="10496550"/>
            <a:chOff x="0" y="0"/>
            <a:chExt cx="12357100" cy="13995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57100" cy="13995400"/>
            </a:xfrm>
            <a:custGeom>
              <a:avLst/>
              <a:gdLst/>
              <a:ahLst/>
              <a:cxnLst/>
              <a:rect l="l" t="t" r="r" b="b"/>
              <a:pathLst>
                <a:path w="12357100" h="13995400">
                  <a:moveTo>
                    <a:pt x="0" y="0"/>
                  </a:moveTo>
                  <a:lnTo>
                    <a:pt x="12357100" y="0"/>
                  </a:lnTo>
                  <a:lnTo>
                    <a:pt x="12357100" y="13995400"/>
                  </a:lnTo>
                  <a:lnTo>
                    <a:pt x="0" y="1399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4" r="-27" b="-2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3454400" y="2042479"/>
            <a:ext cx="10953152" cy="6803892"/>
            <a:chOff x="0" y="0"/>
            <a:chExt cx="14604203" cy="90718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604254" cy="9071856"/>
            </a:xfrm>
            <a:custGeom>
              <a:avLst/>
              <a:gdLst/>
              <a:ahLst/>
              <a:cxnLst/>
              <a:rect l="l" t="t" r="r" b="b"/>
              <a:pathLst>
                <a:path w="14604254" h="9071856">
                  <a:moveTo>
                    <a:pt x="0" y="0"/>
                  </a:moveTo>
                  <a:lnTo>
                    <a:pt x="14604254" y="0"/>
                  </a:lnTo>
                  <a:lnTo>
                    <a:pt x="14604254" y="9071856"/>
                  </a:lnTo>
                  <a:lnTo>
                    <a:pt x="0" y="9071856"/>
                  </a:lnTo>
                  <a:close/>
                </a:path>
              </a:pathLst>
            </a:custGeom>
            <a:solidFill>
              <a:srgbClr val="EFE9E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902782" y="2467456"/>
            <a:ext cx="8355639" cy="1934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54"/>
              </a:lnSpc>
            </a:pPr>
            <a:r>
              <a:rPr lang="en-US" sz="7854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Engineering Pipeline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85922" y="4841249"/>
            <a:ext cx="8535206" cy="3553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828" spc="-26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Databricks Bronze-Silver-Gold architecture transforms raw operational data into analytics-ready insights:</a:t>
            </a:r>
          </a:p>
          <a:p>
            <a:pPr marL="394854" lvl="1" indent="-197427" algn="l">
              <a:lnSpc>
                <a:spcPts val="2561"/>
              </a:lnSpc>
              <a:buFont typeface="Arial"/>
              <a:buChar char="•"/>
            </a:pPr>
            <a:r>
              <a:rPr lang="en-US" sz="1828" spc="-26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Raw Operational CSV → Bronze (Raw data) → Silver (Cleaning, Transformation, Standardization) → Gold (Analytics-ready tables) → SQLite Database</a:t>
            </a:r>
          </a:p>
          <a:p>
            <a:pPr marL="394854" lvl="1" indent="-197427" algn="l">
              <a:lnSpc>
                <a:spcPts val="2560"/>
              </a:lnSpc>
              <a:buFont typeface="Arial"/>
              <a:buChar char="•"/>
            </a:pPr>
            <a:r>
              <a:rPr lang="en-US" sz="1828" spc="-25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Operational Notes → ChromaDB (Vector Store)</a:t>
            </a:r>
          </a:p>
          <a:p>
            <a:pPr algn="l">
              <a:lnSpc>
                <a:spcPts val="2561"/>
              </a:lnSpc>
            </a:pPr>
            <a:endParaRPr lang="en-US" sz="1828" spc="-25">
              <a:solidFill>
                <a:srgbClr val="54545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2560"/>
              </a:lnSpc>
            </a:pPr>
            <a:r>
              <a:rPr lang="en-US" sz="1828" spc="-25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Technologies: PySpark transformations • PySpark ETL • Structured &amp; unstructured storage • Medallion Architecture • SQLite Analytics DB • ChromaDB Vector Store</a:t>
            </a:r>
          </a:p>
          <a:p>
            <a:pPr algn="l">
              <a:lnSpc>
                <a:spcPts val="2560"/>
              </a:lnSpc>
            </a:pPr>
            <a:endParaRPr lang="en-US" sz="1828" spc="-25">
              <a:solidFill>
                <a:srgbClr val="54545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2560"/>
              </a:lnSpc>
            </a:pPr>
            <a:endParaRPr lang="en-US" sz="1828" spc="-25">
              <a:solidFill>
                <a:srgbClr val="54545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2561"/>
              </a:lnSpc>
            </a:pPr>
            <a:endParaRPr lang="en-US" sz="1828" spc="-25">
              <a:solidFill>
                <a:srgbClr val="54545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902782" y="7934759"/>
            <a:ext cx="6601590" cy="260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1"/>
              </a:lnSpc>
            </a:pPr>
            <a:r>
              <a:rPr lang="en-US" sz="137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Unified pipeline powering both SQL analytics and RAG retrieval.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6862" y="-102060"/>
            <a:ext cx="9260862" cy="10524925"/>
            <a:chOff x="0" y="0"/>
            <a:chExt cx="12347816" cy="140332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47829" cy="14033246"/>
            </a:xfrm>
            <a:custGeom>
              <a:avLst/>
              <a:gdLst/>
              <a:ahLst/>
              <a:cxnLst/>
              <a:rect l="l" t="t" r="r" b="b"/>
              <a:pathLst>
                <a:path w="12347829" h="14033246">
                  <a:moveTo>
                    <a:pt x="0" y="0"/>
                  </a:moveTo>
                  <a:lnTo>
                    <a:pt x="12347829" y="0"/>
                  </a:lnTo>
                  <a:lnTo>
                    <a:pt x="12347829" y="14033246"/>
                  </a:lnTo>
                  <a:lnTo>
                    <a:pt x="0" y="14033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5" r="-110" b="-6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1171575"/>
            <a:ext cx="6190179" cy="207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4"/>
              </a:lnSpc>
            </a:pPr>
            <a:r>
              <a:rPr lang="en-US" sz="7934">
                <a:solidFill>
                  <a:srgbClr val="54545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Multi-Agent</a:t>
            </a:r>
          </a:p>
          <a:p>
            <a:pPr algn="l">
              <a:lnSpc>
                <a:spcPts val="7934"/>
              </a:lnSpc>
            </a:pPr>
            <a:r>
              <a:rPr lang="en-US" sz="7934">
                <a:solidFill>
                  <a:srgbClr val="54545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480129" y="2312420"/>
            <a:ext cx="5907200" cy="672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3055"/>
              </a:lnSpc>
              <a:buFont typeface="Arial" panose="020B0604020202020204" pitchFamily="34" charset="0"/>
              <a:buChar char="•"/>
            </a:pPr>
            <a:r>
              <a:rPr lang="en-US" sz="2181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Router Agent (</a:t>
            </a:r>
            <a:r>
              <a:rPr lang="en-US" sz="2181" dirty="0" err="1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LangGraph</a:t>
            </a:r>
            <a:r>
              <a:rPr lang="en-US" sz="2181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)</a:t>
            </a:r>
          </a:p>
          <a:p>
            <a:pPr algn="l">
              <a:lnSpc>
                <a:spcPts val="3055"/>
              </a:lnSpc>
            </a:pPr>
            <a:r>
              <a:rPr lang="en-US" sz="2181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Classifies each user query and routes it to the appropriate agent pathway: SQL, RAG, or Hybrid.</a:t>
            </a:r>
          </a:p>
          <a:p>
            <a:pPr algn="l">
              <a:lnSpc>
                <a:spcPts val="3055"/>
              </a:lnSpc>
            </a:pPr>
            <a:r>
              <a:rPr lang="en-US" sz="2181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SQL Agent (SQLite)</a:t>
            </a:r>
          </a:p>
          <a:p>
            <a:pPr algn="l">
              <a:lnSpc>
                <a:spcPts val="3054"/>
              </a:lnSpc>
            </a:pPr>
            <a:r>
              <a:rPr lang="en-US" sz="2181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Executes structured queries against operational data tables to provide exact analytics and metrics.</a:t>
            </a:r>
          </a:p>
          <a:p>
            <a:pPr algn="l">
              <a:lnSpc>
                <a:spcPts val="3055"/>
              </a:lnSpc>
            </a:pPr>
            <a:endParaRPr lang="en-US" sz="2181" dirty="0">
              <a:solidFill>
                <a:srgbClr val="EFE9E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l">
              <a:lnSpc>
                <a:spcPts val="3055"/>
              </a:lnSpc>
              <a:buFont typeface="Arial" panose="020B0604020202020204" pitchFamily="34" charset="0"/>
              <a:buChar char="•"/>
            </a:pPr>
            <a:r>
              <a:rPr lang="en-US" sz="2181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RAG Agent (</a:t>
            </a:r>
            <a:r>
              <a:rPr lang="en-US" sz="2181" dirty="0" err="1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ChromaDB</a:t>
            </a:r>
            <a:r>
              <a:rPr lang="en-US" sz="2181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)</a:t>
            </a:r>
          </a:p>
          <a:p>
            <a:pPr algn="l">
              <a:lnSpc>
                <a:spcPts val="3055"/>
              </a:lnSpc>
            </a:pPr>
            <a:r>
              <a:rPr lang="en-US" sz="2181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RAG Agent performs semantic search over operational notes stored in </a:t>
            </a:r>
            <a:r>
              <a:rPr lang="en-US" sz="2181" dirty="0" err="1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ChromaDB</a:t>
            </a:r>
            <a:r>
              <a:rPr lang="en-US" sz="2181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and documents using vector search to surface contextual insights.</a:t>
            </a:r>
          </a:p>
          <a:p>
            <a:pPr algn="l">
              <a:lnSpc>
                <a:spcPts val="3054"/>
              </a:lnSpc>
            </a:pPr>
            <a:endParaRPr lang="en-US" sz="2181" dirty="0">
              <a:solidFill>
                <a:srgbClr val="EFE9E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l">
              <a:lnSpc>
                <a:spcPts val="3054"/>
              </a:lnSpc>
              <a:buFont typeface="Arial" panose="020B0604020202020204" pitchFamily="34" charset="0"/>
              <a:buChar char="•"/>
            </a:pPr>
            <a:r>
              <a:rPr lang="en-US" sz="2181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Response Generation Agent</a:t>
            </a:r>
          </a:p>
          <a:p>
            <a:pPr algn="l">
              <a:lnSpc>
                <a:spcPts val="3055"/>
              </a:lnSpc>
            </a:pPr>
            <a:r>
              <a:rPr lang="en-US" sz="2181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Combines outputs from SQL and RAG agents into a coherent, actionable final response.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80129" y="971550"/>
            <a:ext cx="6406219" cy="859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</a:pPr>
            <a:r>
              <a:rPr lang="en-US" sz="2366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User Question → Router → SQL / RAG / Hybrid → Synthesizer → Final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05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66" b="-66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668723" y="3261808"/>
            <a:ext cx="8321154" cy="2178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3"/>
              </a:lnSpc>
            </a:pPr>
            <a:r>
              <a:rPr lang="en-US" sz="8993">
                <a:solidFill>
                  <a:srgbClr val="54545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Technology</a:t>
            </a:r>
          </a:p>
          <a:p>
            <a:pPr algn="l">
              <a:lnSpc>
                <a:spcPts val="8993"/>
              </a:lnSpc>
            </a:pPr>
            <a:r>
              <a:rPr lang="en-US" sz="8993">
                <a:solidFill>
                  <a:srgbClr val="54545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Stack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68723" y="5647420"/>
            <a:ext cx="5690454" cy="1589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6"/>
              </a:lnSpc>
            </a:pPr>
            <a:r>
              <a:rPr lang="en-US" sz="2197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modern, cloud-native stack spanning data engineering, agentic AI, backend services, frontend, observability, and deployment — all orchestrated for intelligent operations.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679307" y="2020576"/>
            <a:ext cx="6424793" cy="6410459"/>
            <a:chOff x="0" y="0"/>
            <a:chExt cx="8566391" cy="8547278"/>
          </a:xfrm>
        </p:grpSpPr>
        <p:sp>
          <p:nvSpPr>
            <p:cNvPr id="7" name="TextBox 7"/>
            <p:cNvSpPr txBox="1"/>
            <p:nvPr/>
          </p:nvSpPr>
          <p:spPr>
            <a:xfrm>
              <a:off x="1470607" y="2997549"/>
              <a:ext cx="7095784" cy="1109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440"/>
                </a:lnSpc>
              </a:pPr>
              <a:r>
                <a:rPr lang="en-US" sz="2458" b="1">
                  <a:solidFill>
                    <a:srgbClr val="545454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BACKEND</a:t>
              </a:r>
            </a:p>
            <a:p>
              <a:pPr algn="r">
                <a:lnSpc>
                  <a:spcPts val="3440"/>
                </a:lnSpc>
              </a:pPr>
              <a:r>
                <a:rPr lang="en-US" sz="2458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FASTAPI · PYTHON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70607" y="-47625"/>
              <a:ext cx="7095784" cy="1109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440"/>
                </a:lnSpc>
              </a:pPr>
              <a:r>
                <a:rPr lang="en-US" sz="2458" b="1">
                  <a:solidFill>
                    <a:srgbClr val="545454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DATA ENGINEERING</a:t>
              </a:r>
            </a:p>
            <a:p>
              <a:pPr algn="r">
                <a:lnSpc>
                  <a:spcPts val="3440"/>
                </a:lnSpc>
              </a:pPr>
              <a:r>
                <a:rPr lang="en-US" sz="2458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DATABRICKS · PYSPARK · SQLITE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70607" y="1326704"/>
              <a:ext cx="7095784" cy="16821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440"/>
                </a:lnSpc>
              </a:pPr>
              <a:r>
                <a:rPr lang="en-US" sz="2458" b="1">
                  <a:solidFill>
                    <a:srgbClr val="545454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AI &amp; AGENTS</a:t>
              </a:r>
            </a:p>
            <a:p>
              <a:pPr algn="r">
                <a:lnSpc>
                  <a:spcPts val="3440"/>
                </a:lnSpc>
              </a:pPr>
              <a:r>
                <a:rPr lang="en-US" sz="2458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GROQ LLM · LANGCHAIN · LANGGRAPH · RAG · EMBEDDINGS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6865100"/>
              <a:ext cx="8566391" cy="16821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440"/>
                </a:lnSpc>
              </a:pPr>
              <a:r>
                <a:rPr lang="en-US" sz="2458" b="1">
                  <a:solidFill>
                    <a:srgbClr val="545454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DEPLOYMENT</a:t>
              </a:r>
            </a:p>
            <a:p>
              <a:pPr algn="r">
                <a:lnSpc>
                  <a:spcPts val="3440"/>
                </a:lnSpc>
              </a:pPr>
              <a:r>
                <a:rPr lang="en-US" sz="2458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AZURE APP SERVICE · GITHUB · GitHub Actions · Dockerfile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70607" y="4382148"/>
              <a:ext cx="7095784" cy="1109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440"/>
                </a:lnSpc>
              </a:pPr>
              <a:r>
                <a:rPr lang="en-US" sz="2458" b="1">
                  <a:solidFill>
                    <a:srgbClr val="545454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FRONTEND</a:t>
              </a:r>
            </a:p>
            <a:p>
              <a:pPr algn="r">
                <a:lnSpc>
                  <a:spcPts val="3440"/>
                </a:lnSpc>
              </a:pPr>
              <a:r>
                <a:rPr lang="en-US" sz="2458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STREAMLIT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70607" y="5766747"/>
              <a:ext cx="7095784" cy="1109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440"/>
                </a:lnSpc>
              </a:pPr>
              <a:r>
                <a:rPr lang="en-US" sz="2458" b="1">
                  <a:solidFill>
                    <a:srgbClr val="545454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OBSERVABILITY</a:t>
              </a:r>
            </a:p>
            <a:p>
              <a:pPr algn="r">
                <a:lnSpc>
                  <a:spcPts val="3440"/>
                </a:lnSpc>
              </a:pPr>
              <a:r>
                <a:rPr lang="en-US" sz="2458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LANGFUSE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647700"/>
            <a:ext cx="6417421" cy="2051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7200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System Workflow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180535" y="1673622"/>
            <a:ext cx="6417421" cy="808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200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End-to-end execution steps for user queries — from input to intelligent response delivery.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23821" y="3787183"/>
            <a:ext cx="4058145" cy="368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200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STEP 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08275" y="3688571"/>
            <a:ext cx="730282" cy="90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23821" y="4491843"/>
            <a:ext cx="3956714" cy="1163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200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user submits a natural language question through the </a:t>
            </a:r>
            <a:r>
              <a:rPr lang="en-US" sz="2200" dirty="0" err="1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Streamlit</a:t>
            </a:r>
            <a:r>
              <a:rPr lang="en-US" sz="2200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interface.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17774" y="3688571"/>
            <a:ext cx="730282" cy="90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219058" y="4395831"/>
            <a:ext cx="1536830" cy="9525"/>
            <a:chOff x="0" y="0"/>
            <a:chExt cx="2049107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49145" cy="12700"/>
            </a:xfrm>
            <a:custGeom>
              <a:avLst/>
              <a:gdLst/>
              <a:ahLst/>
              <a:cxnLst/>
              <a:rect l="l" t="t" r="r" b="b"/>
              <a:pathLst>
                <a:path w="2049145" h="12700">
                  <a:moveTo>
                    <a:pt x="0" y="0"/>
                  </a:moveTo>
                  <a:lnTo>
                    <a:pt x="2049145" y="127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3093852" r="1" b="-3093852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433320" y="3787183"/>
            <a:ext cx="4058145" cy="368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200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STEP 2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7428557" y="4395831"/>
            <a:ext cx="1536830" cy="9525"/>
            <a:chOff x="0" y="0"/>
            <a:chExt cx="2049107" cy="127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49145" cy="12700"/>
            </a:xfrm>
            <a:custGeom>
              <a:avLst/>
              <a:gdLst/>
              <a:ahLst/>
              <a:cxnLst/>
              <a:rect l="l" t="t" r="r" b="b"/>
              <a:pathLst>
                <a:path w="2049145" h="12700">
                  <a:moveTo>
                    <a:pt x="0" y="0"/>
                  </a:moveTo>
                  <a:lnTo>
                    <a:pt x="2049145" y="127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3093852" r="1" b="-3093852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433320" y="4491843"/>
            <a:ext cx="3956714" cy="76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200" dirty="0" err="1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FastAPI</a:t>
            </a:r>
            <a:r>
              <a:rPr lang="en-US" sz="2200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forwards the request to </a:t>
            </a:r>
            <a:r>
              <a:rPr lang="en-US" sz="2200" dirty="0" err="1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LangGraph</a:t>
            </a:r>
            <a:r>
              <a:rPr lang="en-US" sz="2200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44860" y="3787183"/>
            <a:ext cx="4058145" cy="368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200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STEP 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729314" y="3688571"/>
            <a:ext cx="730282" cy="908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44860" y="4491843"/>
            <a:ext cx="4058145" cy="1163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200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Router Agent determines whether the query is SQL, RAG, or Hybrid.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740097" y="4395831"/>
            <a:ext cx="1536830" cy="9525"/>
            <a:chOff x="0" y="0"/>
            <a:chExt cx="2049107" cy="127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49145" cy="12700"/>
            </a:xfrm>
            <a:custGeom>
              <a:avLst/>
              <a:gdLst/>
              <a:ahLst/>
              <a:cxnLst/>
              <a:rect l="l" t="t" r="r" b="b"/>
              <a:pathLst>
                <a:path w="2049145" h="12700">
                  <a:moveTo>
                    <a:pt x="0" y="0"/>
                  </a:moveTo>
                  <a:lnTo>
                    <a:pt x="2049145" y="127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3093852" r="1" b="-3093852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4">
            <a:extLst>
              <a:ext uri="{FF2B5EF4-FFF2-40B4-BE49-F238E27FC236}">
                <a16:creationId xmlns:a16="http://schemas.microsoft.com/office/drawing/2014/main" id="{46E2F8EF-4486-79E3-EEF1-DEC0DB6F5E74}"/>
              </a:ext>
            </a:extLst>
          </p:cNvPr>
          <p:cNvSpPr txBox="1"/>
          <p:nvPr/>
        </p:nvSpPr>
        <p:spPr>
          <a:xfrm>
            <a:off x="2219057" y="6619814"/>
            <a:ext cx="4058145" cy="368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200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STEP 4</a:t>
            </a: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E0A0BFC2-0BA8-4697-AB80-B3782E0C713F}"/>
              </a:ext>
            </a:extLst>
          </p:cNvPr>
          <p:cNvSpPr txBox="1"/>
          <p:nvPr/>
        </p:nvSpPr>
        <p:spPr>
          <a:xfrm>
            <a:off x="1203511" y="6521202"/>
            <a:ext cx="730282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</a:t>
            </a: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8E342B6C-2F63-98B2-A27C-BAA750C2CC98}"/>
              </a:ext>
            </a:extLst>
          </p:cNvPr>
          <p:cNvSpPr txBox="1"/>
          <p:nvPr/>
        </p:nvSpPr>
        <p:spPr>
          <a:xfrm>
            <a:off x="2219057" y="7324474"/>
            <a:ext cx="3956714" cy="1163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200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corresponding agents retrieve structured analytics or semantic knowledge.</a:t>
            </a: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54C8A14B-4D29-F4FC-295D-B74BB03713E2}"/>
              </a:ext>
            </a:extLst>
          </p:cNvPr>
          <p:cNvSpPr txBox="1"/>
          <p:nvPr/>
        </p:nvSpPr>
        <p:spPr>
          <a:xfrm>
            <a:off x="6413010" y="6521202"/>
            <a:ext cx="730282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</a:t>
            </a:r>
          </a:p>
        </p:txBody>
      </p:sp>
      <p:grpSp>
        <p:nvGrpSpPr>
          <p:cNvPr id="23" name="Group 8">
            <a:extLst>
              <a:ext uri="{FF2B5EF4-FFF2-40B4-BE49-F238E27FC236}">
                <a16:creationId xmlns:a16="http://schemas.microsoft.com/office/drawing/2014/main" id="{9953AAAF-2448-536F-5DC1-845006144224}"/>
              </a:ext>
            </a:extLst>
          </p:cNvPr>
          <p:cNvGrpSpPr/>
          <p:nvPr/>
        </p:nvGrpSpPr>
        <p:grpSpPr>
          <a:xfrm>
            <a:off x="2214294" y="7228462"/>
            <a:ext cx="1536830" cy="9525"/>
            <a:chOff x="0" y="0"/>
            <a:chExt cx="2049107" cy="12700"/>
          </a:xfrm>
        </p:grpSpPr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F713BF20-F6F3-1C5E-EA7B-AC34519509C8}"/>
                </a:ext>
              </a:extLst>
            </p:cNvPr>
            <p:cNvSpPr/>
            <p:nvPr/>
          </p:nvSpPr>
          <p:spPr>
            <a:xfrm>
              <a:off x="0" y="0"/>
              <a:ext cx="2049145" cy="12700"/>
            </a:xfrm>
            <a:custGeom>
              <a:avLst/>
              <a:gdLst/>
              <a:ahLst/>
              <a:cxnLst/>
              <a:rect l="l" t="t" r="r" b="b"/>
              <a:pathLst>
                <a:path w="2049145" h="12700">
                  <a:moveTo>
                    <a:pt x="0" y="0"/>
                  </a:moveTo>
                  <a:lnTo>
                    <a:pt x="2049145" y="127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3093852" r="1" b="-3093852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TextBox 10">
            <a:extLst>
              <a:ext uri="{FF2B5EF4-FFF2-40B4-BE49-F238E27FC236}">
                <a16:creationId xmlns:a16="http://schemas.microsoft.com/office/drawing/2014/main" id="{EF848E6C-6536-053D-8D79-D1EB3E3A1387}"/>
              </a:ext>
            </a:extLst>
          </p:cNvPr>
          <p:cNvSpPr txBox="1"/>
          <p:nvPr/>
        </p:nvSpPr>
        <p:spPr>
          <a:xfrm>
            <a:off x="7428556" y="6619814"/>
            <a:ext cx="4058145" cy="368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200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STEP 5</a:t>
            </a:r>
          </a:p>
        </p:txBody>
      </p:sp>
      <p:grpSp>
        <p:nvGrpSpPr>
          <p:cNvPr id="26" name="Group 11">
            <a:extLst>
              <a:ext uri="{FF2B5EF4-FFF2-40B4-BE49-F238E27FC236}">
                <a16:creationId xmlns:a16="http://schemas.microsoft.com/office/drawing/2014/main" id="{A44180EA-19BA-F74D-5B9E-5BDBCCE1E2A7}"/>
              </a:ext>
            </a:extLst>
          </p:cNvPr>
          <p:cNvGrpSpPr/>
          <p:nvPr/>
        </p:nvGrpSpPr>
        <p:grpSpPr>
          <a:xfrm>
            <a:off x="7423793" y="7228462"/>
            <a:ext cx="1536830" cy="9525"/>
            <a:chOff x="0" y="0"/>
            <a:chExt cx="2049107" cy="12700"/>
          </a:xfrm>
        </p:grpSpPr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39D9E538-8A6F-D394-C56E-834A99E1619B}"/>
                </a:ext>
              </a:extLst>
            </p:cNvPr>
            <p:cNvSpPr/>
            <p:nvPr/>
          </p:nvSpPr>
          <p:spPr>
            <a:xfrm>
              <a:off x="0" y="0"/>
              <a:ext cx="2049145" cy="12700"/>
            </a:xfrm>
            <a:custGeom>
              <a:avLst/>
              <a:gdLst/>
              <a:ahLst/>
              <a:cxnLst/>
              <a:rect l="l" t="t" r="r" b="b"/>
              <a:pathLst>
                <a:path w="2049145" h="12700">
                  <a:moveTo>
                    <a:pt x="0" y="0"/>
                  </a:moveTo>
                  <a:lnTo>
                    <a:pt x="2049145" y="127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3093852" r="1" b="-3093852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13">
            <a:extLst>
              <a:ext uri="{FF2B5EF4-FFF2-40B4-BE49-F238E27FC236}">
                <a16:creationId xmlns:a16="http://schemas.microsoft.com/office/drawing/2014/main" id="{AC00B9F2-E1ED-952D-2B77-3CA377DB70FB}"/>
              </a:ext>
            </a:extLst>
          </p:cNvPr>
          <p:cNvSpPr txBox="1"/>
          <p:nvPr/>
        </p:nvSpPr>
        <p:spPr>
          <a:xfrm>
            <a:off x="7428556" y="7324474"/>
            <a:ext cx="3956714" cy="1163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200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Response Synthesizer combines all results into one final response.</a:t>
            </a:r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8C313922-9CD0-7D1F-EAEE-7D9EB89A7316}"/>
              </a:ext>
            </a:extLst>
          </p:cNvPr>
          <p:cNvSpPr txBox="1"/>
          <p:nvPr/>
        </p:nvSpPr>
        <p:spPr>
          <a:xfrm>
            <a:off x="12740096" y="6619814"/>
            <a:ext cx="4058145" cy="368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200" b="1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STEP 6</a:t>
            </a: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AF10E35F-8121-8ED5-23EA-799D4F440226}"/>
              </a:ext>
            </a:extLst>
          </p:cNvPr>
          <p:cNvSpPr txBox="1"/>
          <p:nvPr/>
        </p:nvSpPr>
        <p:spPr>
          <a:xfrm>
            <a:off x="11724550" y="6521202"/>
            <a:ext cx="730282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6</a:t>
            </a:r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4F52F410-ACAC-0ADE-4063-502CD91E2D65}"/>
              </a:ext>
            </a:extLst>
          </p:cNvPr>
          <p:cNvSpPr txBox="1"/>
          <p:nvPr/>
        </p:nvSpPr>
        <p:spPr>
          <a:xfrm>
            <a:off x="12740097" y="7324474"/>
            <a:ext cx="4286706" cy="156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200" dirty="0" err="1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LangFuse</a:t>
            </a:r>
            <a:r>
              <a:rPr lang="en-US" sz="2200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records the complete execution trace for observability. Finally, the answer is returned to the frontend.</a:t>
            </a:r>
          </a:p>
        </p:txBody>
      </p:sp>
      <p:grpSp>
        <p:nvGrpSpPr>
          <p:cNvPr id="32" name="Group 17">
            <a:extLst>
              <a:ext uri="{FF2B5EF4-FFF2-40B4-BE49-F238E27FC236}">
                <a16:creationId xmlns:a16="http://schemas.microsoft.com/office/drawing/2014/main" id="{E42C372C-120E-CAA2-84B1-1D02F0476440}"/>
              </a:ext>
            </a:extLst>
          </p:cNvPr>
          <p:cNvGrpSpPr/>
          <p:nvPr/>
        </p:nvGrpSpPr>
        <p:grpSpPr>
          <a:xfrm>
            <a:off x="12735333" y="7228462"/>
            <a:ext cx="1536830" cy="9525"/>
            <a:chOff x="0" y="0"/>
            <a:chExt cx="2049107" cy="12700"/>
          </a:xfrm>
        </p:grpSpPr>
        <p:sp>
          <p:nvSpPr>
            <p:cNvPr id="33" name="Freeform 18">
              <a:extLst>
                <a:ext uri="{FF2B5EF4-FFF2-40B4-BE49-F238E27FC236}">
                  <a16:creationId xmlns:a16="http://schemas.microsoft.com/office/drawing/2014/main" id="{B11B23DB-C469-4DE5-C0B5-42DADE40A66A}"/>
                </a:ext>
              </a:extLst>
            </p:cNvPr>
            <p:cNvSpPr/>
            <p:nvPr/>
          </p:nvSpPr>
          <p:spPr>
            <a:xfrm>
              <a:off x="0" y="0"/>
              <a:ext cx="2049145" cy="12700"/>
            </a:xfrm>
            <a:custGeom>
              <a:avLst/>
              <a:gdLst/>
              <a:ahLst/>
              <a:cxnLst/>
              <a:rect l="l" t="t" r="r" b="b"/>
              <a:pathLst>
                <a:path w="2049145" h="12700">
                  <a:moveTo>
                    <a:pt x="0" y="0"/>
                  </a:moveTo>
                  <a:lnTo>
                    <a:pt x="2049145" y="127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3093852" r="1" b="-3093852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28700" y="1207151"/>
            <a:ext cx="7049214" cy="888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94"/>
              </a:lnSpc>
            </a:pPr>
            <a:r>
              <a:rPr lang="en-US" sz="7994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Demo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47864" y="1289314"/>
            <a:ext cx="7782258" cy="772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6"/>
              </a:lnSpc>
            </a:pPr>
            <a:r>
              <a:rPr lang="en-US" sz="2197" spc="-17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Live demonstration of </a:t>
            </a:r>
            <a:r>
              <a:rPr lang="en-US" sz="2197" spc="-17" dirty="0" err="1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ValetAI</a:t>
            </a:r>
            <a:r>
              <a:rPr lang="en-US" sz="2197" spc="-17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query capabilities across SQL, RAG, and Hybrid agent routing workflows.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201293" y="3448345"/>
            <a:ext cx="1792719" cy="36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57"/>
              </a:lnSpc>
            </a:pPr>
            <a:r>
              <a:rPr lang="en-US" sz="1897" spc="93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Hybrid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49709" y="8648700"/>
            <a:ext cx="6388579" cy="222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8"/>
              </a:lnSpc>
            </a:pPr>
            <a:r>
              <a:rPr lang="en-US" sz="2007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"Generate an executive summary for Sunset Ridge."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01293" y="8108847"/>
            <a:ext cx="3915461" cy="470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2007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"Which property should management prioritize and why?"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5397" y="8108847"/>
            <a:ext cx="3910298" cy="470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08"/>
              </a:lnSpc>
            </a:pPr>
            <a:r>
              <a:rPr lang="en-US" sz="2007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"Which property has the highest missed pickups?"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92621" y="3448345"/>
            <a:ext cx="1792719" cy="36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57"/>
              </a:lnSpc>
            </a:pPr>
            <a:r>
              <a:rPr lang="en-US" sz="1897" spc="93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SQL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77914" y="3448345"/>
            <a:ext cx="1792719" cy="36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</a:pPr>
            <a:r>
              <a:rPr lang="en-US" sz="1897" spc="93" dirty="0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RAG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F753664-AE9E-389F-CBDF-B2047AA03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97" t="29388" r="40368" b="4891"/>
          <a:stretch>
            <a:fillRect/>
          </a:stretch>
        </p:blipFill>
        <p:spPr>
          <a:xfrm>
            <a:off x="13201293" y="3965741"/>
            <a:ext cx="5086707" cy="390309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EF94FF8-6F78-56BE-FDC6-ED970AC1EF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27" t="8564" r="41423" b="15843"/>
          <a:stretch>
            <a:fillRect/>
          </a:stretch>
        </p:blipFill>
        <p:spPr>
          <a:xfrm>
            <a:off x="0" y="3965741"/>
            <a:ext cx="5257800" cy="39030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242CF32-A348-7B18-17B6-745EB7A437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69" t="11239" r="30557" b="380"/>
          <a:stretch>
            <a:fillRect/>
          </a:stretch>
        </p:blipFill>
        <p:spPr>
          <a:xfrm>
            <a:off x="5486401" y="3965742"/>
            <a:ext cx="7391400" cy="43781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228725"/>
            <a:ext cx="7746349" cy="691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57"/>
              </a:lnSpc>
            </a:pPr>
            <a:r>
              <a:rPr lang="en-US" sz="5857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Outcomes &amp; Learnings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83238"/>
            <a:ext cx="5639733" cy="1199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6"/>
              </a:lnSpc>
            </a:pPr>
            <a:r>
              <a:rPr lang="en-US" sz="2197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Key achievements and skills acquired throughout the ValetAI project development and deployment.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527441" y="1320765"/>
            <a:ext cx="5731859" cy="429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6"/>
              </a:lnSpc>
            </a:pPr>
            <a:r>
              <a:rPr lang="en-US" sz="2197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Multi-Agent AI Application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11895" y="1143000"/>
            <a:ext cx="730282" cy="66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7"/>
              </a:lnSpc>
            </a:pPr>
            <a:r>
              <a:rPr lang="en-US" sz="5857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527441" y="2031997"/>
            <a:ext cx="5731859" cy="121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6"/>
              </a:lnSpc>
            </a:pPr>
            <a:r>
              <a:rPr lang="en-US" sz="2197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Built a complete multi-agent AI application combining SQL Analytics and RAG for intelligent operational insights.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11895" y="3807781"/>
            <a:ext cx="730282" cy="66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7"/>
              </a:lnSpc>
            </a:pPr>
            <a:r>
              <a:rPr lang="en-US" sz="5857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522678" y="1929451"/>
            <a:ext cx="1536830" cy="9525"/>
            <a:chOff x="0" y="0"/>
            <a:chExt cx="2049107" cy="12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49145" cy="12700"/>
            </a:xfrm>
            <a:custGeom>
              <a:avLst/>
              <a:gdLst/>
              <a:ahLst/>
              <a:cxnLst/>
              <a:rect l="l" t="t" r="r" b="b"/>
              <a:pathLst>
                <a:path w="2049145" h="12700">
                  <a:moveTo>
                    <a:pt x="0" y="0"/>
                  </a:moveTo>
                  <a:lnTo>
                    <a:pt x="2049145" y="127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3093852" r="1" b="-3093852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511895" y="6472561"/>
            <a:ext cx="730282" cy="66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57"/>
              </a:lnSpc>
            </a:pPr>
            <a:r>
              <a:rPr lang="en-US" sz="5857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27441" y="3979564"/>
            <a:ext cx="5731859" cy="429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6"/>
              </a:lnSpc>
            </a:pPr>
            <a:r>
              <a:rPr lang="en-US" sz="2197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LangGraph &amp; LangFuse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27441" y="4690805"/>
            <a:ext cx="5731859" cy="121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6"/>
              </a:lnSpc>
            </a:pPr>
            <a:r>
              <a:rPr lang="en-US" sz="2197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Implemented LangGraph multi-agent orchestration with LangFuse observability for end-to-end tracing and monitoring.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522678" y="4588250"/>
            <a:ext cx="1536830" cy="9525"/>
            <a:chOff x="0" y="0"/>
            <a:chExt cx="2049107" cy="127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049145" cy="12700"/>
            </a:xfrm>
            <a:custGeom>
              <a:avLst/>
              <a:gdLst/>
              <a:ahLst/>
              <a:cxnLst/>
              <a:rect l="l" t="t" r="r" b="b"/>
              <a:pathLst>
                <a:path w="2049145" h="12700">
                  <a:moveTo>
                    <a:pt x="0" y="0"/>
                  </a:moveTo>
                  <a:lnTo>
                    <a:pt x="2049145" y="127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3093852" r="1" b="-3093852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527441" y="6755092"/>
            <a:ext cx="5731859" cy="429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6"/>
              </a:lnSpc>
            </a:pPr>
            <a:r>
              <a:rPr lang="en-US" sz="2197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Full-Stack Cloud Deployment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27441" y="7466333"/>
            <a:ext cx="5731859" cy="121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6"/>
              </a:lnSpc>
            </a:pPr>
            <a:r>
              <a:rPr lang="en-US" sz="2197">
                <a:solidFill>
                  <a:srgbClr val="EFE9E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Developed FastAPI backend and Streamlit frontend, successfully deployed on Azure App Service with GitHub CI/CD.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1522678" y="7363778"/>
            <a:ext cx="1536830" cy="9525"/>
            <a:chOff x="0" y="0"/>
            <a:chExt cx="2049107" cy="127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49145" cy="12700"/>
            </a:xfrm>
            <a:custGeom>
              <a:avLst/>
              <a:gdLst/>
              <a:ahLst/>
              <a:cxnLst/>
              <a:rect l="l" t="t" r="r" b="b"/>
              <a:pathLst>
                <a:path w="2049145" h="12700">
                  <a:moveTo>
                    <a:pt x="0" y="0"/>
                  </a:moveTo>
                  <a:lnTo>
                    <a:pt x="2049145" y="127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t="-3093852" r="1" b="-3093852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248764" y="9410738"/>
            <a:ext cx="18536764" cy="5081140"/>
            <a:chOff x="0" y="0"/>
            <a:chExt cx="24715686" cy="6774853"/>
          </a:xfrm>
        </p:grpSpPr>
        <p:sp>
          <p:nvSpPr>
            <p:cNvPr id="20" name="Freeform 20"/>
            <p:cNvSpPr/>
            <p:nvPr/>
          </p:nvSpPr>
          <p:spPr>
            <a:xfrm flipV="1">
              <a:off x="0" y="0"/>
              <a:ext cx="24715724" cy="6774815"/>
            </a:xfrm>
            <a:custGeom>
              <a:avLst/>
              <a:gdLst/>
              <a:ahLst/>
              <a:cxnLst/>
              <a:rect l="l" t="t" r="r" b="b"/>
              <a:pathLst>
                <a:path w="24715724" h="6774815">
                  <a:moveTo>
                    <a:pt x="0" y="6774815"/>
                  </a:moveTo>
                  <a:lnTo>
                    <a:pt x="24715724" y="6774815"/>
                  </a:lnTo>
                  <a:lnTo>
                    <a:pt x="24715724" y="0"/>
                  </a:lnTo>
                  <a:lnTo>
                    <a:pt x="0" y="0"/>
                  </a:lnTo>
                  <a:lnTo>
                    <a:pt x="0" y="6774815"/>
                  </a:lnTo>
                  <a:close/>
                </a:path>
              </a:pathLst>
            </a:custGeom>
            <a:blipFill>
              <a:blip r:embed="rId3"/>
              <a:stretch>
                <a:fillRect t="-618" b="-71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2909" y="-114300"/>
            <a:ext cx="18525296" cy="10520267"/>
            <a:chOff x="0" y="0"/>
            <a:chExt cx="24700395" cy="140270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700357" cy="14027023"/>
            </a:xfrm>
            <a:custGeom>
              <a:avLst/>
              <a:gdLst/>
              <a:ahLst/>
              <a:cxnLst/>
              <a:rect l="l" t="t" r="r" b="b"/>
              <a:pathLst>
                <a:path w="24700357" h="14027023">
                  <a:moveTo>
                    <a:pt x="0" y="0"/>
                  </a:moveTo>
                  <a:lnTo>
                    <a:pt x="24700357" y="0"/>
                  </a:lnTo>
                  <a:lnTo>
                    <a:pt x="24700357" y="14027023"/>
                  </a:lnTo>
                  <a:lnTo>
                    <a:pt x="0" y="14027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85" b="-18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459417" y="6195529"/>
            <a:ext cx="6983316" cy="3549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6"/>
              </a:lnSpc>
            </a:pPr>
            <a:r>
              <a:rPr lang="en-US" sz="2203" dirty="0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Databricks Data Engineering</a:t>
            </a:r>
          </a:p>
          <a:p>
            <a:pPr algn="l">
              <a:lnSpc>
                <a:spcPts val="3086"/>
              </a:lnSpc>
            </a:pPr>
            <a:r>
              <a:rPr lang="en-US" sz="2203" dirty="0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Agentic AI &amp; </a:t>
            </a:r>
            <a:r>
              <a:rPr lang="en-US" sz="2203" dirty="0" err="1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LangGraph</a:t>
            </a:r>
            <a:endParaRPr lang="en-US" sz="2203" dirty="0">
              <a:solidFill>
                <a:srgbClr val="545454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3086"/>
              </a:lnSpc>
            </a:pPr>
            <a:r>
              <a:rPr lang="en-US" sz="2203" dirty="0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RAG Architecture</a:t>
            </a:r>
          </a:p>
          <a:p>
            <a:pPr algn="l">
              <a:lnSpc>
                <a:spcPts val="3086"/>
              </a:lnSpc>
            </a:pPr>
            <a:r>
              <a:rPr lang="en-US" sz="2203" dirty="0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Vector Databases</a:t>
            </a:r>
          </a:p>
          <a:p>
            <a:pPr algn="l">
              <a:lnSpc>
                <a:spcPts val="3086"/>
              </a:lnSpc>
            </a:pPr>
            <a:r>
              <a:rPr lang="en-US" sz="2203" dirty="0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LLM Prompt Engineering</a:t>
            </a:r>
          </a:p>
          <a:p>
            <a:pPr algn="l">
              <a:lnSpc>
                <a:spcPts val="3085"/>
              </a:lnSpc>
            </a:pPr>
            <a:r>
              <a:rPr lang="en-US" sz="2203" dirty="0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API Development  </a:t>
            </a:r>
          </a:p>
          <a:p>
            <a:pPr>
              <a:lnSpc>
                <a:spcPts val="3085"/>
              </a:lnSpc>
            </a:pPr>
            <a:r>
              <a:rPr lang="en-US" sz="2203" dirty="0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GitHub Actions CI/CD</a:t>
            </a:r>
          </a:p>
          <a:p>
            <a:pPr algn="l">
              <a:lnSpc>
                <a:spcPts val="3085"/>
              </a:lnSpc>
            </a:pPr>
            <a:r>
              <a:rPr lang="en-US" sz="2203" dirty="0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Cloud Deployment </a:t>
            </a:r>
          </a:p>
          <a:p>
            <a:pPr algn="l">
              <a:lnSpc>
                <a:spcPts val="3086"/>
              </a:lnSpc>
            </a:pPr>
            <a:r>
              <a:rPr lang="en-US" sz="2203" dirty="0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AI Observability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59417" y="5600183"/>
            <a:ext cx="6983316" cy="464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476" b="1">
                <a:solidFill>
                  <a:srgbClr val="545454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Technical &amp; AI Expertise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112909" y="-114300"/>
            <a:ext cx="9425083" cy="5257800"/>
            <a:chOff x="-174104" y="0"/>
            <a:chExt cx="12566777" cy="7010400"/>
          </a:xfrm>
        </p:grpSpPr>
        <p:sp>
          <p:nvSpPr>
            <p:cNvPr id="7" name="Freeform 7"/>
            <p:cNvSpPr/>
            <p:nvPr/>
          </p:nvSpPr>
          <p:spPr>
            <a:xfrm>
              <a:off x="-174104" y="0"/>
              <a:ext cx="12566777" cy="7010400"/>
            </a:xfrm>
            <a:custGeom>
              <a:avLst/>
              <a:gdLst/>
              <a:ahLst/>
              <a:cxnLst/>
              <a:rect l="l" t="t" r="r" b="b"/>
              <a:pathLst>
                <a:path w="12566777" h="7010400">
                  <a:moveTo>
                    <a:pt x="0" y="0"/>
                  </a:moveTo>
                  <a:lnTo>
                    <a:pt x="12566777" y="0"/>
                  </a:lnTo>
                  <a:lnTo>
                    <a:pt x="12566777" y="7010400"/>
                  </a:lnTo>
                  <a:lnTo>
                    <a:pt x="0" y="7010400"/>
                  </a:lnTo>
                  <a:close/>
                </a:path>
              </a:pathLst>
            </a:custGeom>
            <a:solidFill>
              <a:srgbClr val="EFE9E4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2676525"/>
            <a:ext cx="7171534" cy="929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94"/>
              </a:lnSpc>
            </a:pPr>
            <a:r>
              <a:rPr lang="en-US" sz="7994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Skills Acquired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905155"/>
            <a:ext cx="6197641" cy="719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38"/>
              </a:lnSpc>
            </a:pPr>
            <a:r>
              <a:rPr lang="en-US" sz="1955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Key competencies and technologies mastered throughout the ValetAI project development.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734"/>
            <a:ext cx="18288000" cy="10292469"/>
          </a:xfrm>
          <a:custGeom>
            <a:avLst/>
            <a:gdLst/>
            <a:ahLst/>
            <a:cxnLst/>
            <a:rect l="l" t="t" r="r" b="b"/>
            <a:pathLst>
              <a:path w="18288000" h="10292469">
                <a:moveTo>
                  <a:pt x="0" y="0"/>
                </a:moveTo>
                <a:lnTo>
                  <a:pt x="18288000" y="0"/>
                </a:lnTo>
                <a:lnTo>
                  <a:pt x="18288000" y="10292468"/>
                </a:lnTo>
                <a:lnTo>
                  <a:pt x="0" y="10292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4576653" cy="3108794"/>
          </a:xfrm>
          <a:custGeom>
            <a:avLst/>
            <a:gdLst/>
            <a:ahLst/>
            <a:cxnLst/>
            <a:rect l="l" t="t" r="r" b="b"/>
            <a:pathLst>
              <a:path w="4576653" h="3108794">
                <a:moveTo>
                  <a:pt x="0" y="0"/>
                </a:moveTo>
                <a:lnTo>
                  <a:pt x="4576653" y="0"/>
                </a:lnTo>
                <a:lnTo>
                  <a:pt x="4576653" y="3108794"/>
                </a:lnTo>
                <a:lnTo>
                  <a:pt x="0" y="310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5115" t="-68630" r="-439807" b="-39885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29320" y="846099"/>
            <a:ext cx="4418101" cy="148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2"/>
              </a:lnSpc>
            </a:pPr>
            <a:r>
              <a:rPr lang="en-US" sz="5742">
                <a:solidFill>
                  <a:srgbClr val="54545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Architecture Diagram</a:t>
            </a:r>
          </a:p>
        </p:txBody>
      </p:sp>
      <p:sp>
        <p:nvSpPr>
          <p:cNvPr id="5" name="Freeform 5"/>
          <p:cNvSpPr/>
          <p:nvPr/>
        </p:nvSpPr>
        <p:spPr>
          <a:xfrm>
            <a:off x="6536442" y="6291445"/>
            <a:ext cx="1203003" cy="793082"/>
          </a:xfrm>
          <a:custGeom>
            <a:avLst/>
            <a:gdLst/>
            <a:ahLst/>
            <a:cxnLst/>
            <a:rect l="l" t="t" r="r" b="b"/>
            <a:pathLst>
              <a:path w="1203003" h="793082">
                <a:moveTo>
                  <a:pt x="0" y="0"/>
                </a:moveTo>
                <a:lnTo>
                  <a:pt x="1203004" y="0"/>
                </a:lnTo>
                <a:lnTo>
                  <a:pt x="1203004" y="793082"/>
                </a:lnTo>
                <a:lnTo>
                  <a:pt x="0" y="79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0961" t="-813406" r="-589233" b="-38437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5551386" y="6291445"/>
            <a:ext cx="1203003" cy="793082"/>
          </a:xfrm>
          <a:custGeom>
            <a:avLst/>
            <a:gdLst/>
            <a:ahLst/>
            <a:cxnLst/>
            <a:rect l="l" t="t" r="r" b="b"/>
            <a:pathLst>
              <a:path w="1203003" h="793082">
                <a:moveTo>
                  <a:pt x="0" y="0"/>
                </a:moveTo>
                <a:lnTo>
                  <a:pt x="1203003" y="0"/>
                </a:lnTo>
                <a:lnTo>
                  <a:pt x="1203003" y="793082"/>
                </a:lnTo>
                <a:lnTo>
                  <a:pt x="0" y="79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0961" t="-813406" r="-589233" b="-38437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842563" y="6291445"/>
            <a:ext cx="1203003" cy="793082"/>
          </a:xfrm>
          <a:custGeom>
            <a:avLst/>
            <a:gdLst/>
            <a:ahLst/>
            <a:cxnLst/>
            <a:rect l="l" t="t" r="r" b="b"/>
            <a:pathLst>
              <a:path w="1203003" h="793082">
                <a:moveTo>
                  <a:pt x="0" y="0"/>
                </a:moveTo>
                <a:lnTo>
                  <a:pt x="1203003" y="0"/>
                </a:lnTo>
                <a:lnTo>
                  <a:pt x="1203003" y="793082"/>
                </a:lnTo>
                <a:lnTo>
                  <a:pt x="0" y="79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0961" t="-813406" r="-589233" b="-38437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613436" y="6130615"/>
            <a:ext cx="1446962" cy="953912"/>
          </a:xfrm>
          <a:custGeom>
            <a:avLst/>
            <a:gdLst/>
            <a:ahLst/>
            <a:cxnLst/>
            <a:rect l="l" t="t" r="r" b="b"/>
            <a:pathLst>
              <a:path w="1446962" h="953912">
                <a:moveTo>
                  <a:pt x="0" y="0"/>
                </a:moveTo>
                <a:lnTo>
                  <a:pt x="1446962" y="0"/>
                </a:lnTo>
                <a:lnTo>
                  <a:pt x="1446962" y="953912"/>
                </a:lnTo>
                <a:lnTo>
                  <a:pt x="0" y="9539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48791" t="-787426" r="-771404" b="-41035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66" b="-66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48466" y="1014412"/>
            <a:ext cx="18761307" cy="9525"/>
            <a:chOff x="0" y="0"/>
            <a:chExt cx="25015076" cy="12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015062" cy="12700"/>
            </a:xfrm>
            <a:custGeom>
              <a:avLst/>
              <a:gdLst/>
              <a:ahLst/>
              <a:cxnLst/>
              <a:rect l="l" t="t" r="r" b="b"/>
              <a:pathLst>
                <a:path w="25015062" h="12700">
                  <a:moveTo>
                    <a:pt x="0" y="0"/>
                  </a:moveTo>
                  <a:lnTo>
                    <a:pt x="25015062" y="127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38329504" b="-38329504"/>
              </a:stretch>
            </a:blipFill>
            <a:ln w="952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287019" y="301247"/>
            <a:ext cx="2300192" cy="36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ACCENTURE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87211" y="301247"/>
            <a:ext cx="3328311" cy="36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Samridhi Sinha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87019" y="6027182"/>
            <a:ext cx="8653462" cy="112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99"/>
              </a:lnSpc>
            </a:pPr>
            <a:r>
              <a:rPr lang="en-US" sz="9499">
                <a:solidFill>
                  <a:srgbClr val="545454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87019" y="7499194"/>
            <a:ext cx="5880840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200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ValetAI — Intelligent Operations Insights using Multi-Agent AI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87019" y="4934264"/>
            <a:ext cx="8653462" cy="351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95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VALETAI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727118" y="4943794"/>
            <a:ext cx="1532182" cy="361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1900">
                <a:solidFill>
                  <a:srgbClr val="54545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703</Words>
  <Application>Microsoft Office PowerPoint</Application>
  <PresentationFormat>Custom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Glacial Indifference Bold</vt:lpstr>
      <vt:lpstr>Playfair Display</vt:lpstr>
      <vt:lpstr>Glacial Indifference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Agentic AI Operations Intelligence Platform Databricks • LangGraph • RAG • LangFuse • Azure Presented by Samridhi Sinha Associate Software Engineering Intern, Accenture Intelligent Operations Insights using Multi-Agent AI</dc:title>
  <cp:lastModifiedBy>Sinha, Samridhi</cp:lastModifiedBy>
  <cp:revision>6</cp:revision>
  <dcterms:created xsi:type="dcterms:W3CDTF">2006-08-16T00:00:00Z</dcterms:created>
  <dcterms:modified xsi:type="dcterms:W3CDTF">2026-07-03T05:17:21Z</dcterms:modified>
  <dc:identifier>DAHOOY9XAPI</dc:identifier>
</cp:coreProperties>
</file>